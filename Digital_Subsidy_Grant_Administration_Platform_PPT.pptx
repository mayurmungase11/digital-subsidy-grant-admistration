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91440" cy="3611880"/>
          </a:xfrm>
          <a:prstGeom prst="rect">
            <a:avLst/>
          </a:prstGeom>
          <a:solidFill>
            <a:srgbClr val="3E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7772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3EBE89"/>
                </a:solidFill>
                <a:latin typeface="Aptos"/>
              </a:rPr>
              <a:t>DIGITAL SUBSIDY &amp; GRANT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93392"/>
            <a:ext cx="8961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5F8FC"/>
                </a:solidFill>
                <a:latin typeface="Aptos"/>
              </a:rPr>
              <a:t>Administration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154680"/>
            <a:ext cx="6217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A4B0BF"/>
                </a:solidFill>
                <a:latin typeface="Aptos"/>
              </a:rPr>
              <a:t>Centralized • Controlled • Secure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656" y="3835794"/>
            <a:ext cx="36576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1600" b="1" dirty="0">
                <a:solidFill>
                  <a:srgbClr val="E0E7EF"/>
                </a:solidFill>
                <a:latin typeface="Aptos"/>
              </a:rPr>
              <a:t>Presented By: </a:t>
            </a:r>
            <a:r>
              <a:rPr lang="en-IN" sz="1600" dirty="0">
                <a:solidFill>
                  <a:srgbClr val="E0E7EF"/>
                </a:solidFill>
                <a:latin typeface="Aptos"/>
              </a:rPr>
              <a:t>Visionary Brains</a:t>
            </a:r>
            <a:endParaRPr sz="1600" dirty="0">
              <a:solidFill>
                <a:srgbClr val="E0E7E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4329794"/>
            <a:ext cx="640080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1300" dirty="0">
                <a:solidFill>
                  <a:srgbClr val="A4B0BF"/>
                </a:solidFill>
                <a:latin typeface="Aptos"/>
              </a:rPr>
              <a:t>Infosys Springboard Internship 7.0  - batch 2</a:t>
            </a:r>
            <a:endParaRPr sz="1300" b="0" dirty="0">
              <a:solidFill>
                <a:srgbClr val="A4B0B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75320" y="1508760"/>
            <a:ext cx="2971800" cy="566928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58200" y="1554480"/>
            <a:ext cx="2606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5F8FC"/>
                </a:solidFill>
                <a:latin typeface="Aptos"/>
              </a:rPr>
              <a:t>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331720"/>
            <a:ext cx="2971800" cy="566928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2377439"/>
            <a:ext cx="2606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5F8FC"/>
                </a:solidFill>
                <a:latin typeface="Aptos"/>
              </a:rPr>
              <a:t>ELIGIBILITY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154680"/>
            <a:ext cx="2971800" cy="566928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3200400"/>
            <a:ext cx="2606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5F8FC"/>
                </a:solidFill>
                <a:latin typeface="Aptos"/>
              </a:rPr>
              <a:t>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3977639"/>
            <a:ext cx="2971800" cy="566928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4023359"/>
            <a:ext cx="2606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5F8FC"/>
                </a:solidFill>
                <a:latin typeface="Aptos"/>
              </a:rPr>
              <a:t>APPROVAL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4800600"/>
            <a:ext cx="2971800" cy="566928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4846320"/>
            <a:ext cx="2606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5F8FC"/>
                </a:solidFill>
                <a:latin typeface="Aptos"/>
              </a:rPr>
              <a:t>DISBURSEMENT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AF713B-0104-5488-B85A-B4D593D84375}"/>
              </a:ext>
            </a:extLst>
          </p:cNvPr>
          <p:cNvSpPr txBox="1"/>
          <p:nvPr/>
        </p:nvSpPr>
        <p:spPr>
          <a:xfrm>
            <a:off x="1051560" y="413034"/>
            <a:ext cx="2348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Algerian" panose="04020705040A02060702" pitchFamily="82" charset="0"/>
              </a:rPr>
              <a:t>PROJECT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E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2823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0BF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6675120" cy="5074920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3EBE89"/>
                </a:solidFill>
                <a:latin typeface="Aptos"/>
              </a:rPr>
              <a:t>Platform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897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0E7EF"/>
                </a:solidFill>
                <a:latin typeface="Aptos"/>
              </a:defRPr>
            </a:pPr>
            <a:r>
              <a:t>•  Centralized platform for government subsidy &amp; grant administration</a:t>
            </a:r>
          </a:p>
          <a:p>
            <a:pPr>
              <a:spcAft>
                <a:spcPts val="1000"/>
              </a:spcAft>
              <a:defRPr sz="1700">
                <a:solidFill>
                  <a:srgbClr val="E0E7EF"/>
                </a:solidFill>
                <a:latin typeface="Aptos"/>
              </a:defRPr>
            </a:pPr>
            <a:r>
              <a:t>•  Digitizes the complete application-to-disbursement lifecycle</a:t>
            </a:r>
          </a:p>
          <a:p>
            <a:pPr>
              <a:spcAft>
                <a:spcPts val="1000"/>
              </a:spcAft>
              <a:defRPr sz="1700">
                <a:solidFill>
                  <a:srgbClr val="E0E7EF"/>
                </a:solidFill>
                <a:latin typeface="Aptos"/>
              </a:defRPr>
            </a:pPr>
            <a:r>
              <a:t>•  Centralized management of beneficiaries, schemes and applications</a:t>
            </a:r>
          </a:p>
          <a:p>
            <a:pPr>
              <a:spcAft>
                <a:spcPts val="1000"/>
              </a:spcAft>
              <a:defRPr sz="1700">
                <a:solidFill>
                  <a:srgbClr val="E0E7EF"/>
                </a:solidFill>
                <a:latin typeface="Aptos"/>
              </a:defRPr>
            </a:pPr>
            <a:r>
              <a:t>•  Controlled workflow across multiple administrative roles</a:t>
            </a:r>
          </a:p>
          <a:p>
            <a:pPr>
              <a:spcAft>
                <a:spcPts val="1000"/>
              </a:spcAft>
              <a:defRPr sz="1700">
                <a:solidFill>
                  <a:srgbClr val="E0E7EF"/>
                </a:solidFill>
                <a:latin typeface="Aptos"/>
              </a:defRPr>
            </a:pPr>
            <a:r>
              <a:t>•  Automatic application status progression after each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143000"/>
            <a:ext cx="3977639" cy="5074920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94288"/>
            <a:ext cx="30175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FFF00"/>
                </a:solidFill>
                <a:latin typeface="Aptos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3425" y="2499549"/>
            <a:ext cx="3409827" cy="22159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en-IN" sz="2300" b="1" dirty="0">
                <a:solidFill>
                  <a:srgbClr val="F5F8FC"/>
                </a:solidFill>
                <a:latin typeface="Aptos"/>
              </a:rPr>
              <a:t>Digitalized </a:t>
            </a:r>
            <a:r>
              <a:rPr sz="2300" b="1" dirty="0">
                <a:solidFill>
                  <a:srgbClr val="F5F8FC"/>
                </a:solidFill>
                <a:latin typeface="Aptos"/>
              </a:rPr>
              <a:t>platform.
</a:t>
            </a:r>
            <a:r>
              <a:rPr lang="en-IN" sz="2300" b="1" dirty="0">
                <a:solidFill>
                  <a:srgbClr val="F5F8FC"/>
                </a:solidFill>
                <a:latin typeface="Aptos"/>
              </a:rPr>
              <a:t>C</a:t>
            </a:r>
            <a:r>
              <a:rPr sz="2300" b="1" dirty="0" err="1">
                <a:solidFill>
                  <a:srgbClr val="F5F8FC"/>
                </a:solidFill>
                <a:latin typeface="Aptos"/>
              </a:rPr>
              <a:t>ontrolled</a:t>
            </a:r>
            <a:r>
              <a:rPr lang="en-IN" sz="2300" b="1" dirty="0">
                <a:solidFill>
                  <a:srgbClr val="F5F8FC"/>
                </a:solidFill>
                <a:latin typeface="Aptos"/>
              </a:rPr>
              <a:t> </a:t>
            </a:r>
            <a:r>
              <a:rPr sz="2300" b="1" dirty="0">
                <a:solidFill>
                  <a:srgbClr val="F5F8FC"/>
                </a:solidFill>
                <a:latin typeface="Aptos"/>
              </a:rPr>
              <a:t>lifecycle.
Consistent status tracking.</a:t>
            </a:r>
            <a:endParaRPr lang="en-IN" sz="2300" b="1" dirty="0">
              <a:solidFill>
                <a:srgbClr val="F5F8FC"/>
              </a:solidFill>
              <a:latin typeface="Aptos"/>
            </a:endParaRPr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en-IN" sz="2300" b="1" dirty="0">
                <a:solidFill>
                  <a:srgbClr val="F5F8FC"/>
                </a:solidFill>
                <a:latin typeface="Aptos"/>
              </a:rPr>
              <a:t>Operational Monitoring </a:t>
            </a:r>
            <a:endParaRPr sz="2300" b="1" dirty="0">
              <a:solidFill>
                <a:srgbClr val="F5F8F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E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2823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0BF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6903720" cy="5166360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Existing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6126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t>•  Fragmented and manual subsidy administration</a:t>
            </a:r>
          </a:p>
          <a:p>
            <a:pPr>
              <a:spcAft>
                <a:spcPts val="9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t>•  Difficult to centrally manage schemes, beneficiaries and applications</a:t>
            </a:r>
          </a:p>
          <a:p>
            <a:pPr>
              <a:spcAft>
                <a:spcPts val="9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t>•  Inconsistent eligibility, verification and approval processes</a:t>
            </a:r>
          </a:p>
          <a:p>
            <a:pPr>
              <a:spcAft>
                <a:spcPts val="9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t>•  Lack of controlled workflow across departments</a:t>
            </a:r>
          </a:p>
          <a:p>
            <a:pPr>
              <a:spcAft>
                <a:spcPts val="9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t>•  Difficult to track application progress at every stage</a:t>
            </a:r>
          </a:p>
          <a:p>
            <a:pPr>
              <a:spcAft>
                <a:spcPts val="9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t>•  Risk of incorrect or unauthorized disbursement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097280"/>
            <a:ext cx="3794760" cy="5166360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1554480"/>
            <a:ext cx="3154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EBE89"/>
                </a:solidFill>
                <a:latin typeface="Aptos"/>
              </a:rPr>
              <a:t>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148840"/>
            <a:ext cx="306324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5F8FC"/>
                </a:solidFill>
                <a:latin typeface="Aptos"/>
              </a:rPr>
              <a:t>A centralized and controlled administration platform to manage the complete subsidy lifecycle with consistent status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E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Designed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2823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0BF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5486400" cy="5166360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709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E0E7EF"/>
                </a:solidFill>
                <a:latin typeface="Aptos"/>
              </a:defRPr>
            </a:pPr>
            <a:r>
              <a:t>•  Centralized subsidy &amp; grant administration</a:t>
            </a:r>
          </a:p>
          <a:p>
            <a:pPr>
              <a:spcAft>
                <a:spcPts val="800"/>
              </a:spcAft>
              <a:defRPr sz="1550">
                <a:solidFill>
                  <a:srgbClr val="E0E7EF"/>
                </a:solidFill>
                <a:latin typeface="Aptos"/>
              </a:defRPr>
            </a:pPr>
            <a:r>
              <a:t>•  Scheme-wise eligibility configuration</a:t>
            </a:r>
          </a:p>
          <a:p>
            <a:pPr>
              <a:spcAft>
                <a:spcPts val="800"/>
              </a:spcAft>
              <a:defRPr sz="1550">
                <a:solidFill>
                  <a:srgbClr val="E0E7EF"/>
                </a:solidFill>
                <a:latin typeface="Aptos"/>
              </a:defRPr>
            </a:pPr>
            <a:r>
              <a:t>•  Automated eligibility evaluation</a:t>
            </a:r>
          </a:p>
          <a:p>
            <a:pPr>
              <a:spcAft>
                <a:spcPts val="800"/>
              </a:spcAft>
              <a:defRPr sz="1550">
                <a:solidFill>
                  <a:srgbClr val="E0E7EF"/>
                </a:solidFill>
                <a:latin typeface="Aptos"/>
              </a:defRPr>
            </a:pPr>
            <a:r>
              <a:t>•  Role-based verification and approval workflow</a:t>
            </a:r>
          </a:p>
          <a:p>
            <a:pPr>
              <a:spcAft>
                <a:spcPts val="800"/>
              </a:spcAft>
              <a:defRPr sz="1550">
                <a:solidFill>
                  <a:srgbClr val="E0E7EF"/>
                </a:solidFill>
                <a:latin typeface="Aptos"/>
              </a:defRPr>
            </a:pPr>
            <a:r>
              <a:t>•  Controlled finance disbursement</a:t>
            </a:r>
          </a:p>
          <a:p>
            <a:pPr>
              <a:spcAft>
                <a:spcPts val="800"/>
              </a:spcAft>
              <a:defRPr sz="1550">
                <a:solidFill>
                  <a:srgbClr val="E0E7EF"/>
                </a:solidFill>
                <a:latin typeface="Aptos"/>
              </a:defRPr>
            </a:pPr>
            <a:r>
              <a:t>•  Automatic application status updates after each action</a:t>
            </a:r>
          </a:p>
          <a:p>
            <a:pPr>
              <a:spcAft>
                <a:spcPts val="800"/>
              </a:spcAft>
              <a:defRPr sz="1550">
                <a:solidFill>
                  <a:srgbClr val="E0E7EF"/>
                </a:solidFill>
                <a:latin typeface="Aptos"/>
              </a:defRPr>
            </a:pPr>
            <a:r>
              <a:t>•  Secure access based on administrative responsibilities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097280"/>
            <a:ext cx="5212080" cy="5166360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3EBE89"/>
                </a:solidFill>
                <a:latin typeface="Aptos"/>
              </a:rPr>
              <a:t>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240280"/>
            <a:ext cx="932688" cy="804672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4828" y="2527198"/>
            <a:ext cx="941832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dirty="0">
                <a:solidFill>
                  <a:srgbClr val="F5F8FC"/>
                </a:solidFill>
                <a:latin typeface="Aptos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2944" y="2331720"/>
            <a:ext cx="274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BE89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62088" y="2240280"/>
            <a:ext cx="932688" cy="804672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16952" y="2519418"/>
            <a:ext cx="836676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dirty="0">
                <a:solidFill>
                  <a:srgbClr val="F5F8FC"/>
                </a:solidFill>
                <a:latin typeface="Aptos"/>
              </a:rPr>
              <a:t>Eligibility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331720"/>
            <a:ext cx="274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BE89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94776" y="2240280"/>
            <a:ext cx="932688" cy="804672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17636" y="2511811"/>
            <a:ext cx="94183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5F8FC"/>
                </a:solidFill>
                <a:latin typeface="Aptos"/>
              </a:rPr>
              <a:t>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2331720"/>
            <a:ext cx="274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BE8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27464" y="2240280"/>
            <a:ext cx="932688" cy="804672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22892" y="2504116"/>
            <a:ext cx="93268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5F8FC"/>
                </a:solidFill>
                <a:latin typeface="Aptos"/>
              </a:rPr>
              <a:t>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51008" y="2331720"/>
            <a:ext cx="274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BE89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60152" y="2240280"/>
            <a:ext cx="1005840" cy="804672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351006" y="2519505"/>
            <a:ext cx="101498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5F8FC"/>
                </a:solidFill>
                <a:latin typeface="Aptos"/>
              </a:rPr>
              <a:t>Disbursement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794760"/>
            <a:ext cx="4434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Application → Eligibility → Verification → Approval → Disbursement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E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2823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0BF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514600" cy="5074920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BE89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31720"/>
            <a:ext cx="1965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E0E7EF"/>
                </a:solidFill>
                <a:latin typeface="Aptos"/>
              </a:defRPr>
            </a:pPr>
            <a:r>
              <a:t>•  React</a:t>
            </a:r>
          </a:p>
          <a:p>
            <a:pPr>
              <a:spcAft>
                <a:spcPts val="1300"/>
              </a:spcAft>
              <a:defRPr sz="1600">
                <a:solidFill>
                  <a:srgbClr val="E0E7EF"/>
                </a:solidFill>
                <a:latin typeface="Aptos"/>
              </a:defRPr>
            </a:pPr>
            <a:r>
              <a:t>•  React Router</a:t>
            </a:r>
          </a:p>
          <a:p>
            <a:pPr>
              <a:spcAft>
                <a:spcPts val="1300"/>
              </a:spcAft>
              <a:defRPr sz="1600">
                <a:solidFill>
                  <a:srgbClr val="E0E7EF"/>
                </a:solidFill>
                <a:latin typeface="Aptos"/>
              </a:defRPr>
            </a:pPr>
            <a:r>
              <a:t>•  Axios</a:t>
            </a:r>
          </a:p>
          <a:p>
            <a:pPr>
              <a:spcAft>
                <a:spcPts val="1300"/>
              </a:spcAft>
              <a:defRPr sz="1600">
                <a:solidFill>
                  <a:srgbClr val="E0E7EF"/>
                </a:solidFill>
                <a:latin typeface="Aptos"/>
              </a:defRPr>
            </a:pPr>
            <a:r>
              <a:t>• 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143000"/>
            <a:ext cx="2514600" cy="5074920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463040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BE89"/>
                </a:solidFill>
                <a:latin typeface="Aptos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752" y="2331720"/>
            <a:ext cx="1965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E0E7EF"/>
                </a:solidFill>
                <a:latin typeface="Aptos"/>
              </a:defRPr>
            </a:pPr>
            <a:r>
              <a:t>•  Java 17</a:t>
            </a:r>
          </a:p>
          <a:p>
            <a:pPr>
              <a:spcAft>
                <a:spcPts val="1300"/>
              </a:spcAft>
              <a:defRPr sz="1600">
                <a:solidFill>
                  <a:srgbClr val="E0E7EF"/>
                </a:solidFill>
                <a:latin typeface="Aptos"/>
              </a:defRPr>
            </a:pPr>
            <a:r>
              <a:t>•  Spring Boot</a:t>
            </a:r>
          </a:p>
          <a:p>
            <a:pPr>
              <a:spcAft>
                <a:spcPts val="1300"/>
              </a:spcAft>
              <a:defRPr sz="1600">
                <a:solidFill>
                  <a:srgbClr val="E0E7EF"/>
                </a:solidFill>
                <a:latin typeface="Aptos"/>
              </a:defRPr>
            </a:pPr>
            <a:r>
              <a:t>•  REST APIs</a:t>
            </a:r>
          </a:p>
          <a:p>
            <a:pPr>
              <a:spcAft>
                <a:spcPts val="1300"/>
              </a:spcAft>
              <a:defRPr sz="1600">
                <a:solidFill>
                  <a:srgbClr val="E0E7EF"/>
                </a:solidFill>
                <a:latin typeface="Aptos"/>
              </a:defRPr>
            </a:pPr>
            <a:r>
              <a:t>•  JPA / Hibernate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143000"/>
            <a:ext cx="2514600" cy="5074920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463040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BE89"/>
                </a:solidFill>
                <a:latin typeface="Aptos"/>
              </a:rPr>
              <a:t>Database &amp;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331720"/>
            <a:ext cx="1965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E0E7EF"/>
                </a:solidFill>
                <a:latin typeface="Aptos"/>
              </a:defRPr>
            </a:pPr>
            <a:r>
              <a:t>•  MySQL</a:t>
            </a:r>
          </a:p>
          <a:p>
            <a:pPr>
              <a:spcAft>
                <a:spcPts val="1300"/>
              </a:spcAft>
              <a:defRPr sz="1600">
                <a:solidFill>
                  <a:srgbClr val="E0E7EF"/>
                </a:solidFill>
                <a:latin typeface="Aptos"/>
              </a:defRPr>
            </a:pPr>
            <a:r>
              <a:t>•  Spring Security</a:t>
            </a:r>
          </a:p>
          <a:p>
            <a:pPr>
              <a:spcAft>
                <a:spcPts val="1300"/>
              </a:spcAft>
              <a:defRPr sz="1600">
                <a:solidFill>
                  <a:srgbClr val="E0E7EF"/>
                </a:solidFill>
                <a:latin typeface="Aptos"/>
              </a:defRPr>
            </a:pPr>
            <a:r>
              <a:t>•  JWT</a:t>
            </a:r>
          </a:p>
          <a:p>
            <a:pPr>
              <a:spcAft>
                <a:spcPts val="1300"/>
              </a:spcAft>
              <a:defRPr sz="1600">
                <a:solidFill>
                  <a:srgbClr val="E0E7EF"/>
                </a:solidFill>
                <a:latin typeface="Aptos"/>
              </a:defRPr>
            </a:pPr>
            <a:r>
              <a:t>•  BCrypt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143000"/>
            <a:ext cx="2514600" cy="5074920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19" y="1463040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BE89"/>
                </a:solidFill>
                <a:latin typeface="Aptos"/>
              </a:rP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2331720"/>
            <a:ext cx="1965960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E0E7EF"/>
                </a:solidFill>
                <a:latin typeface="Aptos"/>
              </a:defRPr>
            </a:pPr>
            <a:r>
              <a:rPr dirty="0"/>
              <a:t>•  Maven</a:t>
            </a:r>
          </a:p>
          <a:p>
            <a:pPr>
              <a:spcAft>
                <a:spcPts val="1300"/>
              </a:spcAft>
              <a:defRPr sz="1600">
                <a:solidFill>
                  <a:srgbClr val="E0E7EF"/>
                </a:solidFill>
                <a:latin typeface="Aptos"/>
              </a:defRPr>
            </a:pPr>
            <a:r>
              <a:rPr dirty="0"/>
              <a:t>•  Git / GitHub</a:t>
            </a:r>
            <a:endParaRPr lang="en-IN" dirty="0"/>
          </a:p>
          <a:p>
            <a:pPr marL="285750" indent="-285750">
              <a:spcAft>
                <a:spcPts val="1300"/>
              </a:spcAft>
              <a:buFont typeface="Arial" panose="020B0604020202020204" pitchFamily="34" charset="0"/>
              <a:buChar char="•"/>
              <a:defRPr sz="1600">
                <a:solidFill>
                  <a:srgbClr val="E0E7EF"/>
                </a:solidFill>
                <a:latin typeface="Aptos"/>
              </a:defRPr>
            </a:pPr>
            <a:r>
              <a:rPr lang="en-IN" dirty="0"/>
              <a:t>Postman</a:t>
            </a:r>
            <a:endParaRPr dirty="0"/>
          </a:p>
          <a:p>
            <a:pPr>
              <a:spcAft>
                <a:spcPts val="1300"/>
              </a:spcAft>
              <a:defRPr sz="1600">
                <a:solidFill>
                  <a:srgbClr val="E0E7EF"/>
                </a:solidFill>
                <a:latin typeface="Aptos"/>
              </a:defRPr>
            </a:pPr>
            <a:r>
              <a:rPr dirty="0"/>
              <a:t>•  Swagger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E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2823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0BF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Layered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536192"/>
            <a:ext cx="4709160" cy="484632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76472" y="1572768"/>
            <a:ext cx="45628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React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84248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BE89"/>
                </a:solidFill>
                <a:latin typeface="Aptos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194560"/>
            <a:ext cx="4709160" cy="484632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76472" y="2231136"/>
            <a:ext cx="45628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REST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642615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BE89"/>
                </a:solidFill>
                <a:latin typeface="Apto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2852928"/>
            <a:ext cx="4709160" cy="484632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2889504"/>
            <a:ext cx="45628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3300984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BE89"/>
                </a:solidFill>
                <a:latin typeface="Apto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511296"/>
            <a:ext cx="4709160" cy="484632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76472" y="3547872"/>
            <a:ext cx="45628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959352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BE89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4169663"/>
            <a:ext cx="4709160" cy="484632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76472" y="4206240"/>
            <a:ext cx="45628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4617720"/>
            <a:ext cx="274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BE89"/>
                </a:solidFill>
                <a:latin typeface="Aptos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4828031"/>
            <a:ext cx="4709160" cy="484632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76472" y="4864607"/>
            <a:ext cx="45628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MySQL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1325880"/>
            <a:ext cx="2743200" cy="4526280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8280" y="178308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50">
                <a:solidFill>
                  <a:srgbClr val="E0E7EF"/>
                </a:solidFill>
                <a:latin typeface="Aptos"/>
              </a:defRPr>
            </a:pPr>
            <a:r>
              <a:t>•  Secure JWT-based communication</a:t>
            </a:r>
          </a:p>
          <a:p>
            <a:pPr>
              <a:spcAft>
                <a:spcPts val="1300"/>
              </a:spcAft>
              <a:defRPr sz="1450">
                <a:solidFill>
                  <a:srgbClr val="E0E7EF"/>
                </a:solidFill>
                <a:latin typeface="Aptos"/>
              </a:defRPr>
            </a:pPr>
            <a:r>
              <a:t>•  Role-based API authorization</a:t>
            </a:r>
          </a:p>
          <a:p>
            <a:pPr>
              <a:spcAft>
                <a:spcPts val="1300"/>
              </a:spcAft>
              <a:defRPr sz="1450">
                <a:solidFill>
                  <a:srgbClr val="E0E7EF"/>
                </a:solidFill>
                <a:latin typeface="Aptos"/>
              </a:defRPr>
            </a:pPr>
            <a:r>
              <a:t>•  DTO validation</a:t>
            </a:r>
          </a:p>
          <a:p>
            <a:pPr>
              <a:spcAft>
                <a:spcPts val="1300"/>
              </a:spcAft>
              <a:defRPr sz="1450">
                <a:solidFill>
                  <a:srgbClr val="E0E7EF"/>
                </a:solidFill>
                <a:latin typeface="Aptos"/>
              </a:defRPr>
            </a:pPr>
            <a:r>
              <a:t>•  Business-rule processing</a:t>
            </a:r>
          </a:p>
          <a:p>
            <a:pPr>
              <a:spcAft>
                <a:spcPts val="1300"/>
              </a:spcAft>
              <a:defRPr sz="1450">
                <a:solidFill>
                  <a:srgbClr val="E0E7EF"/>
                </a:solidFill>
                <a:latin typeface="Aptos"/>
              </a:defRPr>
            </a:pPr>
            <a:r>
              <a:t>•  Global exception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E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Core Functional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2823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0BF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074920" cy="768096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216152"/>
            <a:ext cx="4709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Authentication &amp; User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43000"/>
            <a:ext cx="5074920" cy="768096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216152"/>
            <a:ext cx="4709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Beneficiary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30552"/>
            <a:ext cx="5074920" cy="768096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203704"/>
            <a:ext cx="4709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Scheme &amp; Master Data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30552"/>
            <a:ext cx="5074920" cy="768096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203704"/>
            <a:ext cx="4709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Eligibility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18104"/>
            <a:ext cx="5074920" cy="768096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191256"/>
            <a:ext cx="4709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Application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18104"/>
            <a:ext cx="5074920" cy="768096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3191256"/>
            <a:ext cx="4709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Field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05656"/>
            <a:ext cx="5074920" cy="768096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4178808"/>
            <a:ext cx="4709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District Approval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105656"/>
            <a:ext cx="5074920" cy="768096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4178808"/>
            <a:ext cx="4709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Finance Disbursement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49240"/>
            <a:ext cx="10607040" cy="658368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468112"/>
            <a:ext cx="1143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EBE89"/>
                </a:solidFill>
                <a:latin typeface="Aptos"/>
              </a:rPr>
              <a:t>User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431536"/>
            <a:ext cx="8869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Admin  |  Beneficiary  |  Field Officer  |  District Officer  |  Finance Officer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E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2823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0BF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4023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Controlled Subsidy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057400" cy="3154680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901952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50" b="1">
                <a:solidFill>
                  <a:srgbClr val="3EBE89"/>
                </a:solidFill>
                <a:latin typeface="Aptos"/>
              </a:rPr>
              <a:t>Beneficiary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697480"/>
            <a:ext cx="1728216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0">
                <a:solidFill>
                  <a:srgbClr val="F5F8FC"/>
                </a:solidFill>
                <a:latin typeface="Aptos"/>
              </a:rPr>
              <a:t>Submit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880360"/>
            <a:ext cx="274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BE89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8064" y="1645920"/>
            <a:ext cx="2057400" cy="3154680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7792" y="1901952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50" b="1">
                <a:solidFill>
                  <a:srgbClr val="3EBE89"/>
                </a:solidFill>
                <a:latin typeface="Aptos"/>
              </a:rPr>
              <a:t>Eligibility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2697480"/>
            <a:ext cx="1728216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0">
                <a:solidFill>
                  <a:srgbClr val="F5F8FC"/>
                </a:solidFill>
                <a:latin typeface="Aptos"/>
              </a:rPr>
              <a:t>Evaluate Criteria → Status Updated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880360"/>
            <a:ext cx="274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BE89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1645920"/>
            <a:ext cx="2057400" cy="3154680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48656" y="1901952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50" b="1">
                <a:solidFill>
                  <a:srgbClr val="3EBE89"/>
                </a:solidFill>
                <a:latin typeface="Aptos"/>
              </a:rPr>
              <a:t>Field Officer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697480"/>
            <a:ext cx="1728216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0">
                <a:solidFill>
                  <a:srgbClr val="F5F8FC"/>
                </a:solidFill>
                <a:latin typeface="Aptos"/>
              </a:rPr>
              <a:t>Verify Application → Status Updated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8" y="2880360"/>
            <a:ext cx="274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BE89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1645920"/>
            <a:ext cx="2057400" cy="3154680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19" y="1901952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50" b="1">
                <a:solidFill>
                  <a:srgbClr val="3EBE89"/>
                </a:solidFill>
                <a:latin typeface="Aptos"/>
              </a:rPr>
              <a:t>District Officer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3" y="2697480"/>
            <a:ext cx="1728216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0">
                <a:solidFill>
                  <a:srgbClr val="F5F8FC"/>
                </a:solidFill>
                <a:latin typeface="Aptos"/>
              </a:rPr>
              <a:t>Approve / Reject → Status Updated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2880360"/>
            <a:ext cx="274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BE89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0656" y="1645920"/>
            <a:ext cx="2057400" cy="3154680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30384" y="1901952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50" b="1">
                <a:solidFill>
                  <a:srgbClr val="3EBE89"/>
                </a:solidFill>
                <a:latin typeface="Aptos"/>
              </a:rPr>
              <a:t>Finance Officer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2697480"/>
            <a:ext cx="1728216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0">
                <a:solidFill>
                  <a:srgbClr val="F5F8FC"/>
                </a:solidFill>
                <a:latin typeface="Aptos"/>
              </a:rPr>
              <a:t>Process Disbursement → Application Progress Completed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0" y="5138928"/>
            <a:ext cx="8915400" cy="786384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28800" y="5266944"/>
            <a:ext cx="8549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F5F8FC"/>
                </a:solidFill>
                <a:latin typeface="Aptos"/>
              </a:rPr>
              <a:t>Key Feature: Application status is automatically updated based on each completed workflow 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E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2823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0BF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5166360" cy="594360"/>
          </a:xfrm>
          <a:prstGeom prst="roundRect">
            <a:avLst/>
          </a:prstGeom>
          <a:solidFill>
            <a:srgbClr val="3EBE89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5715000" cy="594360"/>
          </a:xfrm>
          <a:prstGeom prst="roundRect">
            <a:avLst/>
          </a:prstGeom>
          <a:solidFill>
            <a:srgbClr val="3EBE89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197864"/>
            <a:ext cx="4709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197864"/>
            <a:ext cx="5257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Aptos"/>
              </a:rPr>
              <a:t>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10512"/>
            <a:ext cx="5166360" cy="566928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52160" y="1810512"/>
            <a:ext cx="5715000" cy="566928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874519"/>
            <a:ext cx="4663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Fragmented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1874519"/>
            <a:ext cx="5166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Centralized application lifecycle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96312"/>
            <a:ext cx="5166360" cy="566928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852160" y="2496312"/>
            <a:ext cx="5715000" cy="566928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560320"/>
            <a:ext cx="4663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Missing eligibility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560320"/>
            <a:ext cx="5166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Scheme criteria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182112"/>
            <a:ext cx="5166360" cy="566928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852160" y="3182112"/>
            <a:ext cx="5715000" cy="566928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246120"/>
            <a:ext cx="4663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Role-based access issues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3246120"/>
            <a:ext cx="5166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Role-specific API authorization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67912"/>
            <a:ext cx="5166360" cy="566928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852160" y="3867912"/>
            <a:ext cx="5715000" cy="566928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931920"/>
            <a:ext cx="4663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Incorrect dashboard data loading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3931920"/>
            <a:ext cx="5166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Role-based API handling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553712"/>
            <a:ext cx="5166360" cy="566928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852160" y="4553712"/>
            <a:ext cx="5715000" cy="566928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617720"/>
            <a:ext cx="4663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Excess disbursement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8" y="4617720"/>
            <a:ext cx="5166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Approved-amount 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239512"/>
            <a:ext cx="5166360" cy="566928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852160" y="5239512"/>
            <a:ext cx="5715000" cy="566928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5303520"/>
            <a:ext cx="4663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Entity relationship complexity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9048" y="5303520"/>
            <a:ext cx="5166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5F8FC"/>
                </a:solidFill>
                <a:latin typeface="Aptos"/>
              </a:rPr>
              <a:t>JPA mappings &amp; database constraints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E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2823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0BF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074920" cy="786384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207008"/>
            <a:ext cx="4663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80" b="1">
                <a:solidFill>
                  <a:srgbClr val="F5F8FC"/>
                </a:solidFill>
                <a:latin typeface="Aptos"/>
              </a:rPr>
              <a:t>Payment Gateway / Government Payment System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43000"/>
            <a:ext cx="5074920" cy="786384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3368" y="1207008"/>
            <a:ext cx="4663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80" b="1">
                <a:solidFill>
                  <a:srgbClr val="F5F8FC"/>
                </a:solidFill>
                <a:latin typeface="Aptos"/>
              </a:rPr>
              <a:t>Document Upload &amp; Verification for supporting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76272"/>
            <a:ext cx="5074920" cy="786384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240279"/>
            <a:ext cx="4663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80" b="1">
                <a:solidFill>
                  <a:srgbClr val="F5F8FC"/>
                </a:solidFill>
                <a:latin typeface="Aptos"/>
              </a:rPr>
              <a:t>Stage-wise Notifications for application status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76272"/>
            <a:ext cx="5074920" cy="786384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2240279"/>
            <a:ext cx="4663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80" b="1">
                <a:solidFill>
                  <a:srgbClr val="F5F8FC"/>
                </a:solidFill>
                <a:latin typeface="Aptos"/>
              </a:rPr>
              <a:t>Region-wise Scheme Management based on state/district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9544"/>
            <a:ext cx="5074920" cy="786384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273551"/>
            <a:ext cx="4663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80" b="1">
                <a:solidFill>
                  <a:srgbClr val="F5F8FC"/>
                </a:solidFill>
                <a:latin typeface="Aptos"/>
              </a:rPr>
              <a:t>Application History &amp; Audit Trail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09544"/>
            <a:ext cx="5074920" cy="786384"/>
          </a:xfrm>
          <a:prstGeom prst="roundRect">
            <a:avLst/>
          </a:prstGeom>
          <a:solidFill>
            <a:srgbClr val="1F2B3F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3273551"/>
            <a:ext cx="4663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80" b="1">
                <a:solidFill>
                  <a:srgbClr val="F5F8FC"/>
                </a:solidFill>
                <a:latin typeface="Aptos"/>
              </a:rPr>
              <a:t>Advanced Reports &amp; Administrative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42816"/>
            <a:ext cx="5074920" cy="786384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4306824"/>
            <a:ext cx="4663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80" b="1">
                <a:solidFill>
                  <a:srgbClr val="F5F8FC"/>
                </a:solidFill>
                <a:latin typeface="Aptos"/>
              </a:rPr>
              <a:t>Mobile-friendly Citizen Services / Mobile 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5833" y="4242816"/>
            <a:ext cx="5074920" cy="704088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75833" y="4379976"/>
            <a:ext cx="47091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30" b="1" dirty="0">
                <a:solidFill>
                  <a:srgbClr val="F5F8FC"/>
                </a:solidFill>
                <a:latin typeface="Aptos"/>
              </a:rPr>
              <a:t>Mobile-friendly Citizen Services / Mobile Application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E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2823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0BF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835640" cy="5074920"/>
          </a:xfrm>
          <a:prstGeom prst="roundRect">
            <a:avLst/>
          </a:prstGeom>
          <a:solidFill>
            <a:srgbClr val="192334"/>
          </a:solidFill>
          <a:ln>
            <a:solidFill>
              <a:srgbClr val="3A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44752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3EBE89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t>•  Developed a centralized and controlled subsidy administration platform</a:t>
            </a:r>
          </a:p>
          <a:p>
            <a:pPr>
              <a:spcAft>
                <a:spcPts val="10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t>•  Digitizes the complete application-to-disbursement lifecycle</a:t>
            </a:r>
          </a:p>
          <a:p>
            <a:pPr>
              <a:spcAft>
                <a:spcPts val="10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t>•  Provides consistent application status progression at every stage</a:t>
            </a:r>
          </a:p>
          <a:p>
            <a:pPr>
              <a:spcAft>
                <a:spcPts val="10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t>•  Enables secure, role-based administration across stakeholders</a:t>
            </a:r>
          </a:p>
          <a:p>
            <a:pPr>
              <a:spcAft>
                <a:spcPts val="10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t>•  Supports structured eligibility, verification, approval and disbursement</a:t>
            </a:r>
          </a:p>
          <a:p>
            <a:pPr>
              <a:spcAft>
                <a:spcPts val="10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t>•  Provides a strong foundation for future government payment and digital document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44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5F8FC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8803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EBE89"/>
                </a:solidFill>
                <a:latin typeface="Aptos"/>
              </a:rPr>
              <a:t>Digital Subsidy &amp; Grant Administration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7033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A4B0BF"/>
                </a:solidFill>
                <a:latin typeface="Aptos"/>
              </a:rPr>
              <a:t>Centralized • Controlled • Secure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7720" y="4572000"/>
            <a:ext cx="2971800" cy="54864"/>
          </a:xfrm>
          <a:prstGeom prst="rect">
            <a:avLst/>
          </a:prstGeom>
          <a:solidFill>
            <a:srgbClr val="3E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571</Words>
  <Application>Microsoft Office PowerPoint</Application>
  <PresentationFormat>Widescreen</PresentationFormat>
  <Paragraphs>163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Algerian</vt:lpstr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Mayur Mungase</dc:creator>
  <cp:keywords/>
  <dc:description>generated using python-pptx</dc:description>
  <cp:lastModifiedBy>Mayur Mungase</cp:lastModifiedBy>
  <cp:revision>3</cp:revision>
  <dcterms:created xsi:type="dcterms:W3CDTF">2013-01-27T09:14:16Z</dcterms:created>
  <dcterms:modified xsi:type="dcterms:W3CDTF">2026-09-19T15:10:46Z</dcterms:modified>
  <cp:category/>
</cp:coreProperties>
</file>